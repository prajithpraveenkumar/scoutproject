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66" r:id="rId4"/>
    <p:sldId id="268" r:id="rId5"/>
    <p:sldId id="267" r:id="rId6"/>
    <p:sldId id="260"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26"/>
    <p:restoredTop sz="94674"/>
  </p:normalViewPr>
  <p:slideViewPr>
    <p:cSldViewPr snapToGrid="0">
      <p:cViewPr varScale="1">
        <p:scale>
          <a:sx n="124" d="100"/>
          <a:sy n="124"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2B0B2-AC82-8C40-A89E-D02A858F5EBB}" type="datetimeFigureOut">
              <a:rPr lang="en-US" smtClean="0"/>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43768-6D8B-0344-805D-00958C9CC2D5}" type="slidenum">
              <a:rPr lang="en-US" smtClean="0"/>
              <a:t>‹#›</a:t>
            </a:fld>
            <a:endParaRPr lang="en-US"/>
          </a:p>
        </p:txBody>
      </p:sp>
    </p:spTree>
    <p:extLst>
      <p:ext uri="{BB962C8B-B14F-4D97-AF65-F5344CB8AC3E}">
        <p14:creationId xmlns:p14="http://schemas.microsoft.com/office/powerpoint/2010/main" val="3408740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943768-6D8B-0344-805D-00958C9CC2D5}" type="slidenum">
              <a:rPr lang="en-US" smtClean="0"/>
              <a:t>2</a:t>
            </a:fld>
            <a:endParaRPr lang="en-US"/>
          </a:p>
        </p:txBody>
      </p:sp>
    </p:spTree>
    <p:extLst>
      <p:ext uri="{BB962C8B-B14F-4D97-AF65-F5344CB8AC3E}">
        <p14:creationId xmlns:p14="http://schemas.microsoft.com/office/powerpoint/2010/main" val="2115211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943768-6D8B-0344-805D-00958C9CC2D5}" type="slidenum">
              <a:rPr lang="en-US" smtClean="0"/>
              <a:t>3</a:t>
            </a:fld>
            <a:endParaRPr lang="en-US"/>
          </a:p>
        </p:txBody>
      </p:sp>
    </p:spTree>
    <p:extLst>
      <p:ext uri="{BB962C8B-B14F-4D97-AF65-F5344CB8AC3E}">
        <p14:creationId xmlns:p14="http://schemas.microsoft.com/office/powerpoint/2010/main" val="34137716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4460132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3981511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965285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AD1D12-8C15-5845-9053-F38C8936246E}" type="datetimeFigureOut">
              <a:rPr lang="en-US" smtClean="0"/>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579499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AD1D12-8C15-5845-9053-F38C8936246E}" type="datetimeFigureOut">
              <a:rPr lang="en-US" smtClean="0"/>
              <a:t>6/1/26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872669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AD1D12-8C15-5845-9053-F38C8936246E}" type="datetimeFigureOut">
              <a:rPr lang="en-US" smtClean="0"/>
              <a:t>6/1/26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2216451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67AD1D12-8C15-5845-9053-F38C8936246E}" type="datetimeFigureOut">
              <a:rPr lang="en-US" smtClean="0"/>
              <a:t>6/1/26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209124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AD1D12-8C15-5845-9053-F38C8936246E}" type="datetimeFigureOut">
              <a:rPr lang="en-US" smtClean="0"/>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3269947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AD1D12-8C15-5845-9053-F38C8936246E}" type="datetimeFigureOut">
              <a:rPr lang="en-US" smtClean="0"/>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2350472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AD1D12-8C15-5845-9053-F38C8936246E}" type="datetimeFigureOut">
              <a:rPr lang="en-US" smtClean="0"/>
              <a:t>6/1/26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1815387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21825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1572913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2653676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28854851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1832640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736145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AD1D12-8C15-5845-9053-F38C8936246E}" type="datetimeFigureOut">
              <a:rPr lang="en-US" smtClean="0"/>
              <a:t>6/1/26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51A8E-7235-FC47-ACCC-03769F31E017}" type="slidenum">
              <a:rPr lang="en-US" smtClean="0"/>
              <a:t>‹#›</a:t>
            </a:fld>
            <a:endParaRPr lang="en-US"/>
          </a:p>
        </p:txBody>
      </p:sp>
    </p:spTree>
    <p:extLst>
      <p:ext uri="{BB962C8B-B14F-4D97-AF65-F5344CB8AC3E}">
        <p14:creationId xmlns:p14="http://schemas.microsoft.com/office/powerpoint/2010/main" val="2679063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39000">
              <a:schemeClr val="bg2">
                <a:lumMod val="60000"/>
                <a:lumOff val="40000"/>
              </a:schemeClr>
            </a:gs>
            <a:gs pos="100000">
              <a:schemeClr val="accent3">
                <a:lumMod val="5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7AD1D12-8C15-5845-9053-F38C8936246E}" type="datetimeFigureOut">
              <a:rPr lang="en-US" smtClean="0"/>
              <a:t>6/1/26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2651A8E-7235-FC47-ACCC-03769F31E017}" type="slidenum">
              <a:rPr lang="en-US" smtClean="0"/>
              <a:t>‹#›</a:t>
            </a:fld>
            <a:endParaRPr lang="en-US"/>
          </a:p>
        </p:txBody>
      </p:sp>
    </p:spTree>
    <p:extLst>
      <p:ext uri="{BB962C8B-B14F-4D97-AF65-F5344CB8AC3E}">
        <p14:creationId xmlns:p14="http://schemas.microsoft.com/office/powerpoint/2010/main" val="297385711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usiness.walmart.com/ip/Klein-Tools-60188-Leather-Work-Gloves-Large/937337759" TargetMode="External"/><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hyperlink" Target="https://www.homedepot.com/p/REID-INDUSTRIES-LLC-DBA-PIKSTIK-32-in-PikStik-Pro-Grabber-P-321/202341966" TargetMode="Externa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hyperlink" Target="https://azdeq.gov/ScienceAlliance/trash" TargetMode="External"/><Relationship Id="rId7" Type="http://schemas.openxmlformats.org/officeDocument/2006/relationships/hyperlink" Target="https://srrc.org/~srrcorg/programs/monitoring.php" TargetMode="External"/><Relationship Id="rId2" Type="http://schemas.openxmlformats.org/officeDocument/2006/relationships/hyperlink" Target="http://azdeq.gov/" TargetMode="Externa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hyperlink" Target="https://azdeq.gov/AZWaterApp" TargetMode="External"/><Relationship Id="rId4" Type="http://schemas.openxmlformats.org/officeDocument/2006/relationships/hyperlink" Target="https://azdeq.gov/science-alliance-volunteer-wet-dry-mapp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52000">
              <a:schemeClr val="bg2">
                <a:lumMod val="60000"/>
                <a:lumOff val="40000"/>
              </a:schemeClr>
            </a:gs>
            <a:gs pos="100000">
              <a:schemeClr val="accent3">
                <a:lumMod val="5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A2B8-10C7-D5B2-ADEB-BFB2BAA6A5DA}"/>
              </a:ext>
            </a:extLst>
          </p:cNvPr>
          <p:cNvSpPr>
            <a:spLocks noGrp="1"/>
          </p:cNvSpPr>
          <p:nvPr>
            <p:ph type="ctrTitle"/>
          </p:nvPr>
        </p:nvSpPr>
        <p:spPr>
          <a:xfrm>
            <a:off x="3962399" y="1964267"/>
            <a:ext cx="7197726" cy="1960962"/>
          </a:xfrm>
        </p:spPr>
        <p:txBody>
          <a:bodyPr>
            <a:normAutofit/>
          </a:bodyPr>
          <a:lstStyle/>
          <a:p>
            <a:r>
              <a:rPr lang="en-US" b="1" dirty="0">
                <a:solidFill>
                  <a:srgbClr val="FFC000"/>
                </a:solidFill>
              </a:rPr>
              <a:t>Eagle Project Proposal</a:t>
            </a:r>
            <a:br>
              <a:rPr lang="en-US" b="1" dirty="0">
                <a:solidFill>
                  <a:srgbClr val="FFC000"/>
                </a:solidFill>
              </a:rPr>
            </a:br>
            <a:r>
              <a:rPr lang="en-US" sz="2200" b="1" i="0" cap="all" dirty="0">
                <a:solidFill>
                  <a:srgbClr val="FFC000"/>
                </a:solidFill>
                <a:effectLst/>
                <a:latin typeface="Hind" panose="020B0604020202020204" pitchFamily="34" charset="0"/>
              </a:rPr>
              <a:t>AZ Community Science Alliance</a:t>
            </a:r>
            <a:endParaRPr lang="en-US" sz="2200" b="1" dirty="0">
              <a:solidFill>
                <a:srgbClr val="FFC000"/>
              </a:solidFill>
            </a:endParaRPr>
          </a:p>
        </p:txBody>
      </p:sp>
      <p:sp>
        <p:nvSpPr>
          <p:cNvPr id="4" name="TextBox 3">
            <a:extLst>
              <a:ext uri="{FF2B5EF4-FFF2-40B4-BE49-F238E27FC236}">
                <a16:creationId xmlns:a16="http://schemas.microsoft.com/office/drawing/2014/main" id="{14455884-D0B6-8022-F9FC-4252834B797C}"/>
              </a:ext>
            </a:extLst>
          </p:cNvPr>
          <p:cNvSpPr txBox="1"/>
          <p:nvPr/>
        </p:nvSpPr>
        <p:spPr>
          <a:xfrm>
            <a:off x="8040029" y="5698665"/>
            <a:ext cx="3120098" cy="461665"/>
          </a:xfrm>
          <a:prstGeom prst="rect">
            <a:avLst/>
          </a:prstGeom>
          <a:noFill/>
        </p:spPr>
        <p:txBody>
          <a:bodyPr wrap="square" rtlCol="0">
            <a:spAutoFit/>
          </a:bodyPr>
          <a:lstStyle/>
          <a:p>
            <a:r>
              <a:rPr lang="en-US" sz="2400" b="1" dirty="0">
                <a:solidFill>
                  <a:schemeClr val="accent6">
                    <a:lumMod val="50000"/>
                  </a:schemeClr>
                </a:solidFill>
              </a:rPr>
              <a:t>- Prajith Praveenkumar</a:t>
            </a:r>
          </a:p>
        </p:txBody>
      </p:sp>
    </p:spTree>
    <p:extLst>
      <p:ext uri="{BB962C8B-B14F-4D97-AF65-F5344CB8AC3E}">
        <p14:creationId xmlns:p14="http://schemas.microsoft.com/office/powerpoint/2010/main" val="1764649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F3A1A-6D0B-7946-0238-E91561DC8AA9}"/>
              </a:ext>
            </a:extLst>
          </p:cNvPr>
          <p:cNvSpPr>
            <a:spLocks noGrp="1"/>
          </p:cNvSpPr>
          <p:nvPr>
            <p:ph type="title"/>
          </p:nvPr>
        </p:nvSpPr>
        <p:spPr>
          <a:xfrm>
            <a:off x="685801" y="379141"/>
            <a:ext cx="10131425" cy="446050"/>
          </a:xfrm>
        </p:spPr>
        <p:txBody>
          <a:bodyPr>
            <a:normAutofit fontScale="90000"/>
          </a:bodyPr>
          <a:lstStyle/>
          <a:p>
            <a:r>
              <a:rPr lang="en-US" b="1" dirty="0">
                <a:solidFill>
                  <a:srgbClr val="002060"/>
                </a:solidFill>
                <a:latin typeface="Arial" panose="020B0604020202020204" pitchFamily="34" charset="0"/>
                <a:cs typeface="Arial" panose="020B0604020202020204" pitchFamily="34" charset="0"/>
              </a:rPr>
              <a:t>Overview</a:t>
            </a:r>
          </a:p>
        </p:txBody>
      </p:sp>
      <p:sp>
        <p:nvSpPr>
          <p:cNvPr id="3" name="Content Placeholder 2">
            <a:extLst>
              <a:ext uri="{FF2B5EF4-FFF2-40B4-BE49-F238E27FC236}">
                <a16:creationId xmlns:a16="http://schemas.microsoft.com/office/drawing/2014/main" id="{881D5FB2-BD40-50E3-7A74-0F6653692173}"/>
              </a:ext>
            </a:extLst>
          </p:cNvPr>
          <p:cNvSpPr>
            <a:spLocks noGrp="1"/>
          </p:cNvSpPr>
          <p:nvPr>
            <p:ph idx="1"/>
          </p:nvPr>
        </p:nvSpPr>
        <p:spPr>
          <a:xfrm>
            <a:off x="685800" y="1204333"/>
            <a:ext cx="11402122" cy="5115890"/>
          </a:xfrm>
        </p:spPr>
        <p:txBody>
          <a:bodyPr>
            <a:normAutofit/>
          </a:bodyPr>
          <a:lstStyle/>
          <a:p>
            <a:r>
              <a:rPr lang="en-US" b="1" dirty="0"/>
              <a:t>Arizona Community Science Alliance (AZCSA)</a:t>
            </a:r>
            <a:r>
              <a:rPr lang="en-US" dirty="0"/>
              <a:t> is the Arizona Department of Environmental Quality’s (ADEQ) community science and environmental education program. It is driven by community scientists across Arizona who help monitor the health of the state’s </a:t>
            </a:r>
            <a:r>
              <a:rPr lang="en-US" b="1" dirty="0"/>
              <a:t>air, water, and land</a:t>
            </a:r>
            <a:r>
              <a:rPr lang="en-US" dirty="0"/>
              <a:t>, supporting informed actions to protect the environment for future generations.</a:t>
            </a:r>
          </a:p>
          <a:p>
            <a:r>
              <a:rPr lang="en-US" dirty="0"/>
              <a:t>As part of this Eagle Scout Service Project, I wanted to integrate Scouting America’s youth volunteer activities with AZCSA’s community science efforts by creating a </a:t>
            </a:r>
            <a:r>
              <a:rPr lang="en-US" b="1" dirty="0"/>
              <a:t>structured, </a:t>
            </a:r>
            <a:r>
              <a:rPr lang="en-US" dirty="0"/>
              <a:t>ADEQ-aligned method for collecting environmental data during routine Scout service activities. We have flyers to advertise this.</a:t>
            </a:r>
          </a:p>
          <a:p>
            <a:r>
              <a:rPr lang="en-US" dirty="0"/>
              <a:t>For example, when Scouts participate in activities such as campsite cleanups, park service projects, or “police line” trash collection events, the data related to the trash collected (type, quantity, and location) can be recorded in a standardized format and shared with AZCSA as community science data.</a:t>
            </a:r>
          </a:p>
          <a:p>
            <a:r>
              <a:rPr lang="en-US" dirty="0"/>
              <a:t>My project will also prove to be a form of water conservation</a:t>
            </a:r>
          </a:p>
          <a:p>
            <a:r>
              <a:rPr lang="en-US" b="1" dirty="0"/>
              <a:t>Project Beneficiary:</a:t>
            </a:r>
            <a:r>
              <a:rPr lang="en-US" dirty="0"/>
              <a:t> Arizona Community Science Alliance (AZCSA)</a:t>
            </a:r>
          </a:p>
          <a:p>
            <a:pPr indent="-182880"/>
            <a:endParaRPr lang="en-US" b="1" i="0" dirty="0">
              <a:solidFill>
                <a:schemeClr val="bg1"/>
              </a:solidFill>
              <a:effectLst/>
              <a:latin typeface="Oswald-Bold"/>
            </a:endParaRPr>
          </a:p>
        </p:txBody>
      </p:sp>
    </p:spTree>
    <p:extLst>
      <p:ext uri="{BB962C8B-B14F-4D97-AF65-F5344CB8AC3E}">
        <p14:creationId xmlns:p14="http://schemas.microsoft.com/office/powerpoint/2010/main" val="2198814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B50EA-2BBF-186B-54E4-C3E6A10467CC}"/>
              </a:ext>
            </a:extLst>
          </p:cNvPr>
          <p:cNvSpPr>
            <a:spLocks noGrp="1"/>
          </p:cNvSpPr>
          <p:nvPr>
            <p:ph type="title"/>
          </p:nvPr>
        </p:nvSpPr>
        <p:spPr>
          <a:xfrm>
            <a:off x="685801" y="301084"/>
            <a:ext cx="10131425" cy="535257"/>
          </a:xfrm>
        </p:spPr>
        <p:txBody>
          <a:bodyPr>
            <a:normAutofit fontScale="90000"/>
          </a:bodyPr>
          <a:lstStyle/>
          <a:p>
            <a:r>
              <a:rPr lang="en-US" b="1" dirty="0">
                <a:solidFill>
                  <a:schemeClr val="bg2"/>
                </a:solidFill>
              </a:rPr>
              <a:t>My Project  - Leadership &amp; Execution</a:t>
            </a:r>
          </a:p>
        </p:txBody>
      </p:sp>
      <p:sp>
        <p:nvSpPr>
          <p:cNvPr id="3" name="Content Placeholder 2">
            <a:extLst>
              <a:ext uri="{FF2B5EF4-FFF2-40B4-BE49-F238E27FC236}">
                <a16:creationId xmlns:a16="http://schemas.microsoft.com/office/drawing/2014/main" id="{3C969AB0-93D1-52AD-4C01-444A9FAC634B}"/>
              </a:ext>
            </a:extLst>
          </p:cNvPr>
          <p:cNvSpPr>
            <a:spLocks noGrp="1"/>
          </p:cNvSpPr>
          <p:nvPr>
            <p:ph idx="1"/>
          </p:nvPr>
        </p:nvSpPr>
        <p:spPr>
          <a:xfrm>
            <a:off x="685800" y="836341"/>
            <a:ext cx="10588083" cy="5508703"/>
          </a:xfrm>
        </p:spPr>
        <p:txBody>
          <a:bodyPr>
            <a:normAutofit/>
          </a:bodyPr>
          <a:lstStyle/>
          <a:p>
            <a:r>
              <a:rPr lang="en-US" dirty="0"/>
              <a:t>To demonstrate leadership and organize a group service activity for my Eagle Scout Service Project, I will select a cleanup location in coordination with the </a:t>
            </a:r>
            <a:r>
              <a:rPr lang="en-US" b="1" dirty="0"/>
              <a:t>Arizona Community Science Alliance (AZCSA)</a:t>
            </a:r>
            <a:r>
              <a:rPr lang="en-US" dirty="0"/>
              <a:t> team to ensure the activity supports both trash removal and community science data collection.</a:t>
            </a:r>
          </a:p>
          <a:p>
            <a:r>
              <a:rPr lang="en-US" dirty="0"/>
              <a:t>I will lead Scouts and volunteers in conducting a trash cleanup using appropriate tools such as </a:t>
            </a:r>
            <a:r>
              <a:rPr lang="en-US" b="1" dirty="0"/>
              <a:t>trash bags and grabbers</a:t>
            </a:r>
            <a:r>
              <a:rPr lang="en-US" dirty="0"/>
              <a:t>, following all safety guidelines. During the activity, participants will collect standardized data on the trash removed and submit it through the AZCSA-aligned data collection system.</a:t>
            </a:r>
          </a:p>
          <a:p>
            <a:r>
              <a:rPr lang="en-US" dirty="0"/>
              <a:t>I will also plan and conduct </a:t>
            </a:r>
            <a:r>
              <a:rPr lang="en-US" b="1" dirty="0"/>
              <a:t>fundraising activities</a:t>
            </a:r>
            <a:r>
              <a:rPr lang="en-US" dirty="0"/>
              <a:t> to provide lunch and snacks for volunteers, ensuring participant support and engagement throughout the project.</a:t>
            </a:r>
          </a:p>
          <a:p>
            <a:r>
              <a:rPr lang="en-US" dirty="0"/>
              <a:t>Through this project, I aim to measure the </a:t>
            </a:r>
            <a:r>
              <a:rPr lang="en-US" b="1" dirty="0"/>
              <a:t>scale and environmental impact of trash accumulation</a:t>
            </a:r>
            <a:r>
              <a:rPr lang="en-US" dirty="0"/>
              <a:t> at the selected location while analyzing the variation in types of waste collected, including </a:t>
            </a:r>
            <a:r>
              <a:rPr lang="en-US" b="1" dirty="0"/>
              <a:t>plastics, glass, cardboard, bottles, and other materials</a:t>
            </a:r>
            <a:r>
              <a:rPr lang="en-US" dirty="0"/>
              <a:t>. This data will help demonstrate both the immediate impact of the cleanup and the value of structured environmental data collection.</a:t>
            </a:r>
          </a:p>
          <a:p>
            <a:pPr marL="914400" lvl="2" indent="0">
              <a:buNone/>
            </a:pPr>
            <a:endParaRPr lang="en-US" dirty="0"/>
          </a:p>
        </p:txBody>
      </p:sp>
    </p:spTree>
    <p:extLst>
      <p:ext uri="{BB962C8B-B14F-4D97-AF65-F5344CB8AC3E}">
        <p14:creationId xmlns:p14="http://schemas.microsoft.com/office/powerpoint/2010/main" val="188057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F98BD-472A-BF0F-5E84-0FB6506C1E80}"/>
              </a:ext>
            </a:extLst>
          </p:cNvPr>
          <p:cNvSpPr>
            <a:spLocks noGrp="1"/>
          </p:cNvSpPr>
          <p:nvPr>
            <p:ph type="title"/>
          </p:nvPr>
        </p:nvSpPr>
        <p:spPr/>
        <p:txBody>
          <a:bodyPr/>
          <a:lstStyle/>
          <a:p>
            <a:r>
              <a:rPr lang="en-US" dirty="0"/>
              <a:t>SAFETY</a:t>
            </a:r>
          </a:p>
        </p:txBody>
      </p:sp>
      <p:sp>
        <p:nvSpPr>
          <p:cNvPr id="3" name="Content Placeholder 2">
            <a:extLst>
              <a:ext uri="{FF2B5EF4-FFF2-40B4-BE49-F238E27FC236}">
                <a16:creationId xmlns:a16="http://schemas.microsoft.com/office/drawing/2014/main" id="{EC92E2BE-F6DA-9050-F0FB-C6268895F89F}"/>
              </a:ext>
            </a:extLst>
          </p:cNvPr>
          <p:cNvSpPr>
            <a:spLocks noGrp="1"/>
          </p:cNvSpPr>
          <p:nvPr>
            <p:ph idx="1"/>
          </p:nvPr>
        </p:nvSpPr>
        <p:spPr>
          <a:xfrm>
            <a:off x="685801" y="2142067"/>
            <a:ext cx="4468905" cy="3649133"/>
          </a:xfrm>
        </p:spPr>
        <p:txBody>
          <a:bodyPr/>
          <a:lstStyle/>
          <a:p>
            <a:r>
              <a:rPr lang="en-US" dirty="0"/>
              <a:t>GLOVES FOR PICKING UP TRASH</a:t>
            </a:r>
          </a:p>
          <a:p>
            <a:r>
              <a:rPr lang="en-US" dirty="0"/>
              <a:t>Closed toed shoes due to rocks</a:t>
            </a:r>
          </a:p>
          <a:p>
            <a:r>
              <a:rPr lang="en-US" dirty="0"/>
              <a:t>Trash-pickers for getting trash from bushes</a:t>
            </a:r>
          </a:p>
          <a:p>
            <a:r>
              <a:rPr lang="en-US" dirty="0"/>
              <a:t>Snakes and other animals</a:t>
            </a:r>
          </a:p>
          <a:p>
            <a:pPr marL="0" indent="0">
              <a:buNone/>
            </a:pPr>
            <a:endParaRPr lang="en-US" dirty="0"/>
          </a:p>
        </p:txBody>
      </p:sp>
      <p:pic>
        <p:nvPicPr>
          <p:cNvPr id="5" name="Picture 4">
            <a:extLst>
              <a:ext uri="{FF2B5EF4-FFF2-40B4-BE49-F238E27FC236}">
                <a16:creationId xmlns:a16="http://schemas.microsoft.com/office/drawing/2014/main" id="{27E67A7E-4383-E67D-4C78-F01FF7B161F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154706" y="0"/>
            <a:ext cx="3073078" cy="3073078"/>
          </a:xfrm>
          <a:prstGeom prst="rect">
            <a:avLst/>
          </a:prstGeom>
        </p:spPr>
      </p:pic>
      <p:pic>
        <p:nvPicPr>
          <p:cNvPr id="7" name="Picture 6">
            <a:extLst>
              <a:ext uri="{FF2B5EF4-FFF2-40B4-BE49-F238E27FC236}">
                <a16:creationId xmlns:a16="http://schemas.microsoft.com/office/drawing/2014/main" id="{20A5E46A-97F4-E13A-CC7F-7CD4B552D20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8778431" y="3597797"/>
            <a:ext cx="2193403" cy="2193403"/>
          </a:xfrm>
          <a:prstGeom prst="rect">
            <a:avLst/>
          </a:prstGeom>
        </p:spPr>
      </p:pic>
    </p:spTree>
    <p:extLst>
      <p:ext uri="{BB962C8B-B14F-4D97-AF65-F5344CB8AC3E}">
        <p14:creationId xmlns:p14="http://schemas.microsoft.com/office/powerpoint/2010/main" val="3575053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C4FDD-211E-49A0-FC47-DC4524B5702F}"/>
              </a:ext>
            </a:extLst>
          </p:cNvPr>
          <p:cNvSpPr>
            <a:spLocks noGrp="1"/>
          </p:cNvSpPr>
          <p:nvPr>
            <p:ph type="title"/>
          </p:nvPr>
        </p:nvSpPr>
        <p:spPr>
          <a:xfrm>
            <a:off x="121024" y="98611"/>
            <a:ext cx="10131425" cy="1456267"/>
          </a:xfrm>
        </p:spPr>
        <p:txBody>
          <a:bodyPr/>
          <a:lstStyle/>
          <a:p>
            <a:r>
              <a:rPr lang="en-US" dirty="0"/>
              <a:t>Pictures!!!!</a:t>
            </a:r>
          </a:p>
        </p:txBody>
      </p:sp>
      <p:pic>
        <p:nvPicPr>
          <p:cNvPr id="8" name="Content Placeholder 7">
            <a:extLst>
              <a:ext uri="{FF2B5EF4-FFF2-40B4-BE49-F238E27FC236}">
                <a16:creationId xmlns:a16="http://schemas.microsoft.com/office/drawing/2014/main" id="{C55365D2-3158-FBD7-F330-1D252D4DF97D}"/>
              </a:ext>
            </a:extLst>
          </p:cNvPr>
          <p:cNvPicPr>
            <a:picLocks noGrp="1" noChangeAspect="1"/>
          </p:cNvPicPr>
          <p:nvPr>
            <p:ph idx="1"/>
          </p:nvPr>
        </p:nvPicPr>
        <p:blipFill>
          <a:blip r:embed="rId2"/>
          <a:stretch>
            <a:fillRect/>
          </a:stretch>
        </p:blipFill>
        <p:spPr>
          <a:xfrm>
            <a:off x="4577223" y="2302753"/>
            <a:ext cx="2297212" cy="1736558"/>
          </a:xfrm>
        </p:spPr>
      </p:pic>
      <p:pic>
        <p:nvPicPr>
          <p:cNvPr id="10" name="Picture 9">
            <a:extLst>
              <a:ext uri="{FF2B5EF4-FFF2-40B4-BE49-F238E27FC236}">
                <a16:creationId xmlns:a16="http://schemas.microsoft.com/office/drawing/2014/main" id="{52B80368-9578-31CD-DE93-B58C7AF89A01}"/>
              </a:ext>
            </a:extLst>
          </p:cNvPr>
          <p:cNvPicPr>
            <a:picLocks noChangeAspect="1"/>
          </p:cNvPicPr>
          <p:nvPr/>
        </p:nvPicPr>
        <p:blipFill>
          <a:blip r:embed="rId3"/>
          <a:stretch>
            <a:fillRect/>
          </a:stretch>
        </p:blipFill>
        <p:spPr>
          <a:xfrm>
            <a:off x="7812834" y="308597"/>
            <a:ext cx="3297294" cy="2492561"/>
          </a:xfrm>
          <a:prstGeom prst="rect">
            <a:avLst/>
          </a:prstGeom>
        </p:spPr>
      </p:pic>
      <p:pic>
        <p:nvPicPr>
          <p:cNvPr id="12" name="Picture 11">
            <a:extLst>
              <a:ext uri="{FF2B5EF4-FFF2-40B4-BE49-F238E27FC236}">
                <a16:creationId xmlns:a16="http://schemas.microsoft.com/office/drawing/2014/main" id="{538FD2CF-6D55-734C-3BD0-BE2BAAEFDF27}"/>
              </a:ext>
            </a:extLst>
          </p:cNvPr>
          <p:cNvPicPr>
            <a:picLocks noChangeAspect="1"/>
          </p:cNvPicPr>
          <p:nvPr/>
        </p:nvPicPr>
        <p:blipFill>
          <a:blip r:embed="rId4"/>
          <a:stretch>
            <a:fillRect/>
          </a:stretch>
        </p:blipFill>
        <p:spPr>
          <a:xfrm>
            <a:off x="856000" y="3724776"/>
            <a:ext cx="3505112" cy="2649659"/>
          </a:xfrm>
          <a:prstGeom prst="rect">
            <a:avLst/>
          </a:prstGeom>
        </p:spPr>
      </p:pic>
      <p:pic>
        <p:nvPicPr>
          <p:cNvPr id="14" name="Picture 13">
            <a:extLst>
              <a:ext uri="{FF2B5EF4-FFF2-40B4-BE49-F238E27FC236}">
                <a16:creationId xmlns:a16="http://schemas.microsoft.com/office/drawing/2014/main" id="{DBF84BA6-6B8A-08B7-D1D3-21FFF6E92A62}"/>
              </a:ext>
            </a:extLst>
          </p:cNvPr>
          <p:cNvPicPr>
            <a:picLocks noChangeAspect="1"/>
          </p:cNvPicPr>
          <p:nvPr/>
        </p:nvPicPr>
        <p:blipFill>
          <a:blip r:embed="rId5"/>
          <a:stretch>
            <a:fillRect/>
          </a:stretch>
        </p:blipFill>
        <p:spPr>
          <a:xfrm>
            <a:off x="8121535" y="3724776"/>
            <a:ext cx="3937374" cy="2976424"/>
          </a:xfrm>
          <a:prstGeom prst="rect">
            <a:avLst/>
          </a:prstGeom>
        </p:spPr>
      </p:pic>
    </p:spTree>
    <p:extLst>
      <p:ext uri="{BB962C8B-B14F-4D97-AF65-F5344CB8AC3E}">
        <p14:creationId xmlns:p14="http://schemas.microsoft.com/office/powerpoint/2010/main" val="3734786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C140-B191-58A3-A3EA-F0F63B8C69FC}"/>
              </a:ext>
            </a:extLst>
          </p:cNvPr>
          <p:cNvSpPr>
            <a:spLocks noGrp="1"/>
          </p:cNvSpPr>
          <p:nvPr>
            <p:ph type="title"/>
          </p:nvPr>
        </p:nvSpPr>
        <p:spPr>
          <a:xfrm>
            <a:off x="685801" y="609601"/>
            <a:ext cx="10131425" cy="795454"/>
          </a:xfrm>
        </p:spPr>
        <p:txBody>
          <a:bodyPr/>
          <a:lstStyle/>
          <a:p>
            <a:r>
              <a:rPr lang="en-US" b="1" dirty="0">
                <a:solidFill>
                  <a:schemeClr val="bg2"/>
                </a:solidFill>
              </a:rPr>
              <a:t>Links and the website for the beneficiary</a:t>
            </a:r>
          </a:p>
        </p:txBody>
      </p:sp>
      <p:sp>
        <p:nvSpPr>
          <p:cNvPr id="3" name="Content Placeholder 2">
            <a:extLst>
              <a:ext uri="{FF2B5EF4-FFF2-40B4-BE49-F238E27FC236}">
                <a16:creationId xmlns:a16="http://schemas.microsoft.com/office/drawing/2014/main" id="{AE4BDB46-F860-657C-08D7-66882E5C2430}"/>
              </a:ext>
            </a:extLst>
          </p:cNvPr>
          <p:cNvSpPr>
            <a:spLocks noGrp="1"/>
          </p:cNvSpPr>
          <p:nvPr>
            <p:ph idx="1"/>
          </p:nvPr>
        </p:nvSpPr>
        <p:spPr>
          <a:xfrm>
            <a:off x="775010" y="1405055"/>
            <a:ext cx="8268629" cy="3668750"/>
          </a:xfrm>
        </p:spPr>
        <p:txBody>
          <a:bodyPr>
            <a:normAutofit/>
          </a:bodyPr>
          <a:lstStyle/>
          <a:p>
            <a:pPr>
              <a:lnSpc>
                <a:spcPct val="170000"/>
              </a:lnSpc>
            </a:pPr>
            <a:r>
              <a:rPr lang="en-US" b="0" i="0" u="sng" strike="noStrike" dirty="0">
                <a:solidFill>
                  <a:schemeClr val="accent1">
                    <a:lumMod val="50000"/>
                  </a:schemeClr>
                </a:solidFill>
                <a:effectLst/>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Arizona Department of Environmental Quality</a:t>
            </a:r>
          </a:p>
          <a:p>
            <a:pPr lvl="2">
              <a:lnSpc>
                <a:spcPct val="170000"/>
              </a:lnSpc>
            </a:pPr>
            <a:r>
              <a:rPr lang="en-US" sz="1800" dirty="0">
                <a:solidFill>
                  <a:schemeClr val="accent1">
                    <a:lumMod val="5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Science Alliance Trash Cleanup</a:t>
            </a:r>
            <a:endParaRPr lang="en-US" sz="1800" dirty="0">
              <a:solidFill>
                <a:schemeClr val="accent1">
                  <a:lumMod val="50000"/>
                </a:schemeClr>
              </a:solidFill>
              <a:latin typeface="Arial" panose="020B0604020202020204" pitchFamily="34" charset="0"/>
              <a:cs typeface="Arial" panose="020B0604020202020204" pitchFamily="34" charset="0"/>
            </a:endParaRPr>
          </a:p>
          <a:p>
            <a:pPr lvl="2">
              <a:lnSpc>
                <a:spcPct val="170000"/>
              </a:lnSpc>
            </a:pPr>
            <a:r>
              <a:rPr lang="en-US" sz="1800" dirty="0">
                <a:solidFill>
                  <a:schemeClr val="accent1">
                    <a:lumMod val="5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Volunteer for Wet-Dry Mapping</a:t>
            </a:r>
            <a:r>
              <a:rPr lang="en-US" sz="1800" dirty="0">
                <a:solidFill>
                  <a:schemeClr val="accent1">
                    <a:lumMod val="50000"/>
                  </a:schemeClr>
                </a:solidFill>
                <a:latin typeface="Arial" panose="020B0604020202020204" pitchFamily="34" charset="0"/>
                <a:cs typeface="Arial" panose="020B0604020202020204" pitchFamily="34" charset="0"/>
              </a:rPr>
              <a:t> </a:t>
            </a:r>
          </a:p>
          <a:p>
            <a:pPr lvl="2">
              <a:lnSpc>
                <a:spcPct val="170000"/>
              </a:lnSpc>
            </a:pPr>
            <a:r>
              <a:rPr lang="en-US" sz="1800" dirty="0">
                <a:solidFill>
                  <a:schemeClr val="accent1">
                    <a:lumMod val="50000"/>
                  </a:schemeClr>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Arizona Water Watch Mobile App</a:t>
            </a:r>
            <a:endParaRPr lang="en-US" sz="1800" dirty="0">
              <a:solidFill>
                <a:schemeClr val="accent1">
                  <a:lumMod val="50000"/>
                </a:schemeClr>
              </a:solidFill>
              <a:latin typeface="Arial" panose="020B0604020202020204" pitchFamily="34" charset="0"/>
              <a:cs typeface="Arial" panose="020B0604020202020204" pitchFamily="34" charset="0"/>
            </a:endParaRPr>
          </a:p>
          <a:p>
            <a:pPr lvl="1">
              <a:lnSpc>
                <a:spcPct val="170000"/>
              </a:lnSpc>
            </a:pPr>
            <a:r>
              <a:rPr lang="en-US" sz="2000" dirty="0">
                <a:solidFill>
                  <a:schemeClr val="accent1">
                    <a:lumMod val="50000"/>
                  </a:schemeClr>
                </a:solidFill>
                <a:latin typeface="Arial" panose="020B0604020202020204" pitchFamily="34" charset="0"/>
                <a:cs typeface="Arial" panose="020B0604020202020204" pitchFamily="34" charset="0"/>
              </a:rPr>
              <a:t>https://</a:t>
            </a:r>
            <a:r>
              <a:rPr lang="en-US" sz="2000" dirty="0" err="1">
                <a:solidFill>
                  <a:schemeClr val="accent1">
                    <a:lumMod val="50000"/>
                  </a:schemeClr>
                </a:solidFill>
                <a:latin typeface="Arial" panose="020B0604020202020204" pitchFamily="34" charset="0"/>
                <a:cs typeface="Arial" panose="020B0604020202020204" pitchFamily="34" charset="0"/>
              </a:rPr>
              <a:t>www.scoutingaz.org</a:t>
            </a:r>
            <a:r>
              <a:rPr lang="en-US" sz="2000" dirty="0">
                <a:solidFill>
                  <a:schemeClr val="accent1">
                    <a:lumMod val="50000"/>
                  </a:schemeClr>
                </a:solidFill>
                <a:latin typeface="Arial" panose="020B0604020202020204" pitchFamily="34" charset="0"/>
                <a:cs typeface="Arial" panose="020B0604020202020204" pitchFamily="34" charset="0"/>
              </a:rPr>
              <a:t>/volunteer/</a:t>
            </a:r>
          </a:p>
          <a:p>
            <a:endParaRPr lang="en-US" b="0" i="0" u="sng" strike="noStrike" dirty="0">
              <a:solidFill>
                <a:srgbClr val="99C3FF"/>
              </a:solidFill>
              <a:effectLst/>
              <a:latin typeface="Google Sans"/>
              <a:hlinkClick r:id="rId2"/>
            </a:endParaRPr>
          </a:p>
          <a:p>
            <a:endParaRPr lang="en-US" dirty="0"/>
          </a:p>
        </p:txBody>
      </p:sp>
      <p:pic>
        <p:nvPicPr>
          <p:cNvPr id="8" name="Content Placeholder 4">
            <a:extLst>
              <a:ext uri="{FF2B5EF4-FFF2-40B4-BE49-F238E27FC236}">
                <a16:creationId xmlns:a16="http://schemas.microsoft.com/office/drawing/2014/main" id="{D6225581-2606-84B9-7CC5-60446D686AD6}"/>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8420963" y="1611137"/>
            <a:ext cx="3175887" cy="3668750"/>
          </a:xfrm>
          <a:prstGeom prst="rect">
            <a:avLst/>
          </a:prstGeom>
        </p:spPr>
      </p:pic>
    </p:spTree>
    <p:extLst>
      <p:ext uri="{BB962C8B-B14F-4D97-AF65-F5344CB8AC3E}">
        <p14:creationId xmlns:p14="http://schemas.microsoft.com/office/powerpoint/2010/main" val="2835931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5430-8413-426F-7004-8E128BAA7CCB}"/>
              </a:ext>
            </a:extLst>
          </p:cNvPr>
          <p:cNvSpPr>
            <a:spLocks noGrp="1"/>
          </p:cNvSpPr>
          <p:nvPr>
            <p:ph type="title"/>
          </p:nvPr>
        </p:nvSpPr>
        <p:spPr>
          <a:xfrm>
            <a:off x="851647" y="609600"/>
            <a:ext cx="9965579" cy="5674659"/>
          </a:xfrm>
        </p:spPr>
        <p:txBody>
          <a:bodyPr/>
          <a:lstStyle/>
          <a:p>
            <a:r>
              <a:rPr lang="en-US" sz="5000" dirty="0">
                <a:solidFill>
                  <a:schemeClr val="accent1">
                    <a:lumMod val="50000"/>
                  </a:schemeClr>
                </a:solidFill>
              </a:rPr>
              <a:t>The End</a:t>
            </a:r>
            <a:br>
              <a:rPr lang="en-US" dirty="0">
                <a:solidFill>
                  <a:schemeClr val="accent1">
                    <a:lumMod val="50000"/>
                  </a:schemeClr>
                </a:solidFill>
              </a:rPr>
            </a:br>
            <a:r>
              <a:rPr lang="en-US" sz="1100" dirty="0">
                <a:solidFill>
                  <a:schemeClr val="accent1">
                    <a:lumMod val="50000"/>
                  </a:schemeClr>
                </a:solidFill>
              </a:rPr>
              <a:t>Thank you for considering my proposal</a:t>
            </a:r>
          </a:p>
        </p:txBody>
      </p:sp>
    </p:spTree>
    <p:extLst>
      <p:ext uri="{BB962C8B-B14F-4D97-AF65-F5344CB8AC3E}">
        <p14:creationId xmlns:p14="http://schemas.microsoft.com/office/powerpoint/2010/main" val="2533148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{4F59430E-CC99-F04E-B413-240A7A349242}tf10001058</Template>
  <TotalTime>10909</TotalTime>
  <Words>458</Words>
  <Application>Microsoft Macintosh PowerPoint</Application>
  <PresentationFormat>Widescreen</PresentationFormat>
  <Paragraphs>28</Paragraphs>
  <Slides>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Google Sans</vt:lpstr>
      <vt:lpstr>Hind</vt:lpstr>
      <vt:lpstr>Oswald-Bold</vt:lpstr>
      <vt:lpstr>Celestial</vt:lpstr>
      <vt:lpstr>Eagle Project Proposal AZ Community Science Alliance</vt:lpstr>
      <vt:lpstr>Overview</vt:lpstr>
      <vt:lpstr>My Project  - Leadership &amp; Execution</vt:lpstr>
      <vt:lpstr>SAFETY</vt:lpstr>
      <vt:lpstr>Pictures!!!!</vt:lpstr>
      <vt:lpstr>Links and the website for the beneficiary</vt:lpstr>
      <vt:lpstr>The End Thank you for considering my proposal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Eagle Project Proposal</dc:title>
  <dc:creator>Praveen kumar Manoharan</dc:creator>
  <cp:lastModifiedBy>Microsoft Office User</cp:lastModifiedBy>
  <cp:revision>4</cp:revision>
  <dcterms:created xsi:type="dcterms:W3CDTF">2025-09-26T04:39:04Z</dcterms:created>
  <dcterms:modified xsi:type="dcterms:W3CDTF">2026-06-06T18:01:02Z</dcterms:modified>
</cp:coreProperties>
</file>